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Budget vs Actual Spend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Paid Search</c:v>
                  </c:pt>
                  <c:pt idx="1">
                    <c:v>Social Media</c:v>
                  </c:pt>
                  <c:pt idx="2">
                    <c:v>Email</c:v>
                  </c:pt>
                  <c:pt idx="3">
                    <c:v>Content/SEO</c:v>
                  </c:pt>
                  <c:pt idx="4">
                    <c:v>Partnerships</c:v>
                  </c:pt>
                  <c:pt idx="5">
                    <c:v>Events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15000</c:v>
                </c:pt>
                <c:pt idx="1">
                  <c:v>10000</c:v>
                </c:pt>
                <c:pt idx="2">
                  <c:v>4000</c:v>
                </c:pt>
                <c:pt idx="3">
                  <c:v>6000</c:v>
                </c:pt>
                <c:pt idx="4">
                  <c:v>12000</c:v>
                </c:pt>
                <c:pt idx="5">
                  <c:v>9000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Spend ($)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Paid Search</c:v>
                  </c:pt>
                  <c:pt idx="1">
                    <c:v>Social Media</c:v>
                  </c:pt>
                  <c:pt idx="2">
                    <c:v>Email</c:v>
                  </c:pt>
                  <c:pt idx="3">
                    <c:v>Content/SEO</c:v>
                  </c:pt>
                  <c:pt idx="4">
                    <c:v>Partnerships</c:v>
                  </c:pt>
                  <c:pt idx="5">
                    <c:v>Events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14200</c:v>
                </c:pt>
                <c:pt idx="1">
                  <c:v>9600</c:v>
                </c:pt>
                <c:pt idx="2">
                  <c:v>3800</c:v>
                </c:pt>
                <c:pt idx="3">
                  <c:v>5400</c:v>
                </c:pt>
                <c:pt idx="4">
                  <c:v>12500</c:v>
                </c:pt>
                <c:pt idx="5">
                  <c:v>9800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"/>
            <a:ext cx="2377440" cy="237744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STRATEGY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CloudSync Pro — Mid-Market Project Collaboration Launch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&amp; Investor Review  |  August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below are placeholders from the GTM planning workbooks (Steps 1-7) — replace with confirmed actuals before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plan,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36415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$56.0K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Planned Budget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36415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2,050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 (to date)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36415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364153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Partnerships, and Content/SEO deliver the strongest ROI per dollar spent — these are the channels to prioritize in Phase 2.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Balanced-Mix budget allocation outperforms both a social-heavy and an event-heavy strategy in scenario testing (best case: 465% ROI).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 shows a clear messaging gap around fast time-to-value for mid-market teams — a wedge our positioning already fills.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Target Market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CloudSync Pro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project-collaboration platform built for mid-market teams that have outgrown spreadsheets but don't need enterprise complexity.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11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355701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time-to-value in category — live in under a 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24281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integrations with existing SMB/mid-market tool stacks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92861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that scales with team size, not seats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103120"/>
          <a:ext cx="5349240" cy="18288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 Buy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America, APAC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structure fast without adding headcount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Outgrowing spreadsheets; want fast rollout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Piloting before a wider platform standardization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86384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Focus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646920" y="21031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Buy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63640" y="41605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6364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$1.4B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6263640" y="5166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(SMB + mid-market collaboration tools)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05256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52560" y="5166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CAGR — fragmented,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dominant vendor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&amp; Messaging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channel is positioned to reach its segment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557784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"Get organized in a day, not a quarter"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"Your team already outgrew the spreadsheet"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"Standardize collaboration without the rollout pain"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Content/SEO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playbook for scaling ops without adding headcount"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"Built to sit inside the stack you already trust"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"See it live — deployed in front of you"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5544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670048" y="15544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498848" y="155448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76688" y="15544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vs. Expected ROI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spend, actual spend, and return by channel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6002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BY CHANNEL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452360" y="2011680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41280" y="20116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52360" y="2670048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3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2670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41280" y="267004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52360" y="3328416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E9F9F3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3284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241280" y="3328416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1374%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52360" y="3986784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E9F9F3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9867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Content/SEO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41280" y="398678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381%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52360" y="4645152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E9F9F3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4645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241280" y="464515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52360" y="5303520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3F6FC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5303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0" y="5303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Benchmarking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confirmed competitor research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63500" dist="25400" dir="5400000">
              <a:srgbClr val="36415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3063240" cy="320040"/>
          </a:xfrm>
          <a:prstGeom prst="roundRect">
            <a:avLst>
              <a:gd name="adj" fmla="val 48571"/>
            </a:avLst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TO WATCH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CHANNEL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05409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+ Content SEO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767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$39/mo per seat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261104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 for enterprises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97433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1937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category share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63500" dist="25400" dir="5400000">
              <a:srgbClr val="36415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3063240" cy="320040"/>
          </a:xfrm>
          <a:prstGeom prst="roundRect">
            <a:avLst>
              <a:gd name="adj" fmla="val 48571"/>
            </a:avLst>
          </a:prstGeom>
          <a:solidFill>
            <a:srgbClr val="C99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2834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CHANNEL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05409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Reseller network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0" y="354787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767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$59/mo per seat, annual only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4261104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480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regulated industries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0" y="497433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51937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category share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63500" dist="25400" dir="5400000">
              <a:srgbClr val="36415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6676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366760" y="2286000"/>
            <a:ext cx="3063240" cy="320040"/>
          </a:xfrm>
          <a:prstGeom prst="roundRect">
            <a:avLst>
              <a:gd name="adj" fmla="val 48571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WE CAN EXPLOIT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66760" y="2834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CHANNEL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305409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+ Freemium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66760" y="354787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3767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+ $29/mo Pro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66760" y="4261104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4480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self-serve setup in minutes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497433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66760" y="51937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 category share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KPIs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from the live GTM execution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$56.0K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98825" y="15087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98825" y="1600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98825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49010" y="15087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49010" y="1600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4901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99194" y="15087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99194" y="1600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9194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 —  2,050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084163" cy="548640"/>
          </a:xfrm>
          <a:prstGeom prst="roundRect">
            <a:avLst>
              <a:gd name="adj" fmla="val 8333"/>
            </a:avLst>
          </a:prstGeom>
          <a:solidFill>
            <a:srgbClr val="3E56A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17184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 —  675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333463" cy="54864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37760"/>
            <a:ext cx="9677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 —  345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CHANNELS BY ROI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383280"/>
          <a:ext cx="5486400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Content/SEO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126480" y="3383280"/>
            <a:ext cx="5486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6236208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2237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05840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vs. worst case, tested against the baseline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9F9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Mix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budget split across all 6 channels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$56.0K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673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2,290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4256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44256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0840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50840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465%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CE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(tested)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Strategy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plus 3 additional events ($9K)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$65.0K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37673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44256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0" y="44256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50840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0" y="50840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344%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"worst case" here means weakest of the 3 tested scenarios, not a downside risk case — all 3 still beat break-even. Baseline sits between them at 375% ROI.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channels to prioritize in the next budget 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 by a wide margin (1,374%) with low CAC — expand list-building and lifecycle campaigns before adding new channels.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31089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Second-best ROI (472%) and strongest fit for Enterprise; formalize co-marketing agreements to scale reach without proportional spend.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41B47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667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Content/SEO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6760" y="31089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Third-best ROI (381%) and the most durable, compounding channel — increase investment now to lower CAC across future quarters.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reallocate Events and part of Social Media spend toward Email, Partnerships, and Content/SEO — modeled to lift blended ROI from 375% toward the 465% Balanced-Mix scenario.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2026-08-18T11:16:22Z</dcterms:created>
  <dcterms:modified xsi:type="dcterms:W3CDTF">2026-08-18T11:16:22Z</dcterms:modified>
</cp:coreProperties>
</file>